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18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IoT-based smart home automation using ESP32-S3. Mention three subsystems: gas detection, smart door lock, and automated water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critical vulnerabilities in traditional home management: physical key security, silent gas hazards, and manual water monitoring causing waste or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ESP32-S3 acts as the central hub, connecting all three modules via a unified 3.3V architecture with integrated Wi-Fi for remote control and notifications.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 8 is the ADC for gas sensing. Pin 9 drives PWM for servo control. Pins 4 and 6 are the ultrasonic trigger and echo. All on a single 3.3V 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Three-tier alert: local buzzer and LED, LCD display update, and remote Wi-Fi notification. Detection threshold of 400 ADC units with 98%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water management module uses closed-loop ultrasonic feedback. Pump activates when distance exceeds 10 cm, turns off at 80% full. Accuracy ±2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SG90 servo on Pin 9 (PWM). Two input methods: mobile app over Wi-Fi and physical button. Response under 100ms. 10,000 cycles with zero degradation.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engineering phases: breadboard prototyping for hardware validation, Proteus simulation for digital twin testing (found critical relay spike issue), and final Vero board PCB.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test cases passed. Door lock: &lt;100ms. Gas detection: 98% accuracy. Water pump activation: &lt;100ms. Shutoff: &lt;75ms. ±1.5cm threshold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engineering challenges: servo calibration jitter, MQ-2 drift, ultrasonic noise, and ESP32 reset from relay spikes. All resolved with targeted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BOM cost is ₨3,235 (approximately $11.50 USD). All components sourced from ELECTROBES in Rawalpindi and Islamabad.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objectives achieved. Future enhancements include cloud logging, voice control, AC circuit integration, and on-device TensorFlow Lite anomaly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E24B4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137160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0" y="246888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356616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03720" y="27432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03720" y="137160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03720" y="246888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03720" y="356616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06640" y="27432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0" y="137160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246888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06640" y="356616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09560" y="27432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09560" y="137160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09560" y="246888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09560" y="356616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0" y="27432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12480" y="137160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12480" y="246888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12480" y="3566160"/>
            <a:ext cx="64008" cy="64008"/>
          </a:xfrm>
          <a:prstGeom prst="ellipse">
            <a:avLst/>
          </a:prstGeom>
          <a:solidFill>
            <a:srgbClr val="E24B4A">
              <a:alpha val="40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11480" y="320040"/>
            <a:ext cx="502920" cy="502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11480" y="9601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Home Automation</a:t>
            </a:r>
            <a:endParaRPr lang="en-US" sz="4400" dirty="0"/>
          </a:p>
        </p:txBody>
      </p:sp>
      <p:sp>
        <p:nvSpPr>
          <p:cNvPr id="25" name="Text 22"/>
          <p:cNvSpPr/>
          <p:nvPr/>
        </p:nvSpPr>
        <p:spPr>
          <a:xfrm>
            <a:off x="411480" y="1783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24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Safety System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41148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 ·  Gas Detection  ·  Smart Lock  ·  Water Management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11480" y="320040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1A1F2E"/>
          </a:solidFill>
          <a:ln w="12700">
            <a:solidFill>
              <a:srgbClr val="2129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85800" y="3337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Asghar  ·  516900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SMME, NUST  ·  ME-16  ·  Section A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2024–2028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11480" y="45720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24B4A">
              <a:alpha val="22000"/>
            </a:srgbClr>
          </a:solidFill>
          <a:ln w="12700">
            <a:solidFill>
              <a:srgbClr val="E24B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11480" y="4572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Gas Detection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953512" y="45720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378ADD">
              <a:alpha val="22000"/>
            </a:srgbClr>
          </a:solidFill>
          <a:ln w="12700">
            <a:solidFill>
              <a:srgbClr val="378AD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953512" y="4572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 Mgmt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495544" y="45720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D9E75">
              <a:alpha val="22000"/>
            </a:srgbClr>
          </a:solidFill>
          <a:ln w="1270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95544" y="4572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Smart Lock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65176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88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76072" y="228600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keys are easily lost, duplicated, or forgotten — creating security lapses when homeowners are away.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64408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64408" y="10972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64408" y="1417320"/>
            <a:ext cx="2651760" cy="3200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1887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1568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hazards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429000" y="228600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and CO gas leaks remain undetected until dangerous concentrations accumulate — posing severe fire and health risks.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117336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17336" y="10972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17336" y="1417320"/>
            <a:ext cx="2651760" cy="320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1887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wastage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281928" y="228600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water tank monitoring leads to dry pump runs (equipment damage) or overflow (water loss and electricity waste).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29000" y="1188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E24B4A"/>
          </a:solidFill>
          <a:ln w="12700">
            <a:solidFill>
              <a:srgbClr val="B33B3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298448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474720" y="1664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· Wi-Fi + BT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37160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1A1F2E"/>
          </a:solidFill>
          <a:ln w="12700">
            <a:solidFill>
              <a:srgbClr val="1D9E75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50876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4813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Lock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servo · Wi-Fi + button · &lt;100 ms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23160" y="1691640"/>
            <a:ext cx="1005840" cy="9144"/>
          </a:xfrm>
          <a:prstGeom prst="line">
            <a:avLst/>
          </a:prstGeom>
          <a:noFill/>
          <a:ln w="19050">
            <a:solidFill>
              <a:srgbClr val="8B9A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29000" y="338328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1A1F2E"/>
          </a:solidFill>
          <a:ln w="12700">
            <a:solidFill>
              <a:srgbClr val="BA7517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5204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23360" y="3493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Detection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566160" y="3977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· Buzzer + LED + Wi-Fi · &lt;500 ms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0" y="2194560"/>
            <a:ext cx="9144" cy="1188720"/>
          </a:xfrm>
          <a:prstGeom prst="line">
            <a:avLst/>
          </a:prstGeom>
          <a:noFill/>
          <a:ln w="19050">
            <a:solidFill>
              <a:srgbClr val="8B9A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583680" y="137160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1A1F2E"/>
          </a:solidFill>
          <a:ln w="12700">
            <a:solidFill>
              <a:srgbClr val="378ADD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50876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14813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Mgmt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2084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· Relay pump · &lt;75 ms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715000" y="1691640"/>
            <a:ext cx="868680" cy="9144"/>
          </a:xfrm>
          <a:prstGeom prst="line">
            <a:avLst/>
          </a:prstGeom>
          <a:noFill/>
          <a:ln w="19050">
            <a:solidFill>
              <a:srgbClr val="8B9A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3474720" y="45720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21293D"/>
          </a:solidFill>
          <a:ln w="1270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474720" y="4572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3.3V Power Architecture · Common Ground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Pin 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118179"/>
              </p:ext>
            </p:extLst>
          </p:nvPr>
        </p:nvGraphicFramePr>
        <p:xfrm>
          <a:off x="411480" y="1005840"/>
          <a:ext cx="5029200" cy="3474723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Trig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trigger pulse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Echo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(ADC)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MQ-2 Gas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concentration (LPG/CO)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(PWM)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SG90 Servo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lock actuation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leak local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relay simulation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669280" y="1005840"/>
            <a:ext cx="3108960" cy="3474720"/>
          </a:xfrm>
          <a:prstGeom prst="roundRect">
            <a:avLst>
              <a:gd name="adj" fmla="val 2941"/>
            </a:avLst>
          </a:prstGeom>
          <a:solidFill>
            <a:srgbClr val="0D1117"/>
          </a:solidFill>
          <a:ln w="12700">
            <a:solidFill>
              <a:srgbClr val="1A1F2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Architecture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806440" y="15727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A1F2E"/>
          </a:solidFill>
          <a:ln w="12700">
            <a:solidFill>
              <a:srgbClr val="E24B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932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(240 MHz)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06440" y="2002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A1F2E"/>
          </a:solidFill>
          <a:ln w="12700">
            <a:solidFill>
              <a:srgbClr val="378AD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20025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06440" y="24323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A1F2E"/>
          </a:solidFill>
          <a:ln w="12700">
            <a:solidFill>
              <a:srgbClr val="BA75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89320" y="24323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06440" y="2862072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A1F2E"/>
          </a:solidFill>
          <a:ln w="12700">
            <a:solidFill>
              <a:srgbClr val="1D9E7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2862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Servo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06440" y="329184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A1F2E"/>
          </a:solidFill>
          <a:ln w="12700">
            <a:solidFill>
              <a:srgbClr val="E24B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8932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806440" y="372160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1A1F2E"/>
          </a:solidFill>
          <a:ln w="12700">
            <a:solidFill>
              <a:srgbClr val="378AD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89320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I²C LCD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760720" y="42062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· Common GND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Gas Detection &amp; Alert System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1A1F2E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691640" y="10515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(LPG, Smoke, CO)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4592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1A1F2E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91640" y="1645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8 — ADC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224028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1A1F2E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457200" y="22402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691640" y="22402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ADC units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83464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1A1F2E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Text 12"/>
          <p:cNvSpPr/>
          <p:nvPr/>
        </p:nvSpPr>
        <p:spPr>
          <a:xfrm>
            <a:off x="457200" y="28346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rate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91640" y="28346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500 ms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342900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1A1F2E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Text 15"/>
          <p:cNvSpPr/>
          <p:nvPr/>
        </p:nvSpPr>
        <p:spPr>
          <a:xfrm>
            <a:off x="457200" y="34290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91640" y="3429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450–520 ms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0040" y="402336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1A1F2E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8"/>
          <p:cNvSpPr/>
          <p:nvPr/>
        </p:nvSpPr>
        <p:spPr>
          <a:xfrm>
            <a:off x="457200" y="40233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691640" y="40233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(&lt; 2% false positive)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105156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1A1F2E"/>
          </a:solidFill>
          <a:ln w="12700">
            <a:solidFill>
              <a:srgbClr val="E24B4A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00600" y="1078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Local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14630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(Pin 12) + Red LED — instant audible &amp; visual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63440" y="228600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1A1F2E"/>
          </a:solidFill>
          <a:ln w="12700">
            <a:solidFill>
              <a:srgbClr val="BA7517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7" name="Text 24"/>
          <p:cNvSpPr/>
          <p:nvPr/>
        </p:nvSpPr>
        <p:spPr>
          <a:xfrm>
            <a:off x="4800600" y="2313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Visual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00600" y="26974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displays live gas ADC value and ALERT status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663440" y="35204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1A1F2E"/>
          </a:solidFill>
          <a:ln w="12700">
            <a:solidFill>
              <a:srgbClr val="378ADD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30" name="Text 27"/>
          <p:cNvSpPr/>
          <p:nvPr/>
        </p:nvSpPr>
        <p:spPr>
          <a:xfrm>
            <a:off x="4800600" y="3547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Remote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800600" y="39319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push notification to user smartphone with gas levels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Automated Water Management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292608" cy="2926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9808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sends TRIG pulse → Pin 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103120"/>
            <a:ext cx="292608" cy="2926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9808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measures echo return time → Pin 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651760"/>
            <a:ext cx="292608" cy="2926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2651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calculated using speed of sound (343 m/s)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200400"/>
            <a:ext cx="292608" cy="2926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9808" y="3200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distance &gt; 10 cm → LOW water → relay 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3749040"/>
            <a:ext cx="292608" cy="2926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3749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fills until distance ≤ threshold (80% full)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4297680"/>
            <a:ext cx="292608" cy="2926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5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9808" y="4297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turns OFF → pump stops → overflow prevented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1051560"/>
            <a:ext cx="2011680" cy="1261872"/>
          </a:xfrm>
          <a:prstGeom prst="roundRect">
            <a:avLst>
              <a:gd name="adj" fmla="val 7246"/>
            </a:avLst>
          </a:prstGeom>
          <a:solidFill>
            <a:srgbClr val="0D1117"/>
          </a:solidFill>
          <a:ln w="12700">
            <a:solidFill>
              <a:srgbClr val="378ADD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5488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8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 cm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4754880" y="1801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accuracy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903720" y="1051560"/>
            <a:ext cx="2011680" cy="1261872"/>
          </a:xfrm>
          <a:prstGeom prst="roundRect">
            <a:avLst>
              <a:gd name="adj" fmla="val 7246"/>
            </a:avLst>
          </a:prstGeom>
          <a:solidFill>
            <a:srgbClr val="0D1117"/>
          </a:solidFill>
          <a:ln w="12700">
            <a:solidFill>
              <a:srgbClr val="1D9E75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99516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75 ms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6995160" y="1801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shutoff latency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63440" y="2468880"/>
            <a:ext cx="2011680" cy="1261872"/>
          </a:xfrm>
          <a:prstGeom prst="roundRect">
            <a:avLst>
              <a:gd name="adj" fmla="val 7246"/>
            </a:avLst>
          </a:prstGeom>
          <a:solidFill>
            <a:srgbClr val="0D1117"/>
          </a:solidFill>
          <a:ln w="12700">
            <a:solidFill>
              <a:srgbClr val="BA7517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5488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ms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4754880" y="32186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activation latency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903720" y="2468880"/>
            <a:ext cx="2011680" cy="1261872"/>
          </a:xfrm>
          <a:prstGeom prst="roundRect">
            <a:avLst>
              <a:gd name="adj" fmla="val 7246"/>
            </a:avLst>
          </a:prstGeom>
          <a:solidFill>
            <a:srgbClr val="0D1117"/>
          </a:solidFill>
          <a:ln w="12700">
            <a:solidFill>
              <a:srgbClr val="378ADD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99516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8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6995160" y="32186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capacity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Smart Door Lock System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791F1F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LOCKED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2920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at 0°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1887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085041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7220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UNLOCKED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72200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at 90°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017520" y="1572768"/>
            <a:ext cx="310896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017520" y="1828800"/>
            <a:ext cx="3108960" cy="0"/>
          </a:xfrm>
          <a:prstGeom prst="line">
            <a:avLst/>
          </a:prstGeom>
          <a:noFill/>
          <a:ln w="190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063240" y="1325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cmd / button →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063240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CLOSE cmd / button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6060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A1F2E"/>
          </a:solidFill>
          <a:ln w="12700">
            <a:solidFill>
              <a:srgbClr val="378ADD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26700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(Wi-Fi)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30906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or CLOSE command sent over local Wi-Fi to ESP32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46120" y="26060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A1F2E"/>
          </a:solidFill>
          <a:ln w="12700">
            <a:solidFill>
              <a:srgbClr val="BA7517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83280" y="26700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Button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383280" y="30906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 toggles door state on each press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72200" y="26060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A1F2E"/>
          </a:solidFill>
          <a:ln w="12700">
            <a:solidFill>
              <a:srgbClr val="1D9E75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09360" y="26700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LCD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09360" y="30906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confirms servo position; LCD always shows current door state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425196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21293D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20040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ms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20040" y="4617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468880" y="425196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21293D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468880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90°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2468880" y="4617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angle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17720" y="425196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21293D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617720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617720" y="4617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tested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766560" y="425196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21293D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766560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766560" y="4617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Phases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3017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Prototype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830-point solderless 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↔ mobile Wi-Fi verified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809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servo calibration cycles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570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sensitivity tested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capacitors added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417320"/>
            <a:ext cx="2697480" cy="3017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5848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97764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Simulation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18288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full circuit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4048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modules simulated live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9809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flyback diode issue found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5570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oscilloscope timing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1330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stress tests passed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10058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1005840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1417320"/>
            <a:ext cx="2697480" cy="3017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1928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037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 Board PCB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18288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space utilisation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4048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Analog/digital GND separated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29809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caps ≤5mm of VCC pins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35570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hotspot &gt; 60°C (thermal sim)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1330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2mm min trace separation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1A1F2E"/>
          </a:solidFill>
          <a:ln w="12700">
            <a:solidFill>
              <a:srgbClr val="1D9E75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46120" y="114300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46120" y="11430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Lock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ms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precision · zero overshoot · 10,000 cycles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3566160" cy="164592"/>
          </a:xfrm>
          <a:prstGeom prst="roundRect">
            <a:avLst>
              <a:gd name="adj" fmla="val 27778"/>
            </a:avLst>
          </a:prstGeom>
          <a:solidFill>
            <a:srgbClr val="21293D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3387852" cy="164592"/>
          </a:xfrm>
          <a:prstGeom prst="roundRect">
            <a:avLst>
              <a:gd name="adj" fmla="val 2777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1A1F2E"/>
          </a:solidFill>
          <a:ln w="12700">
            <a:solidFill>
              <a:srgbClr val="E24B4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35240" y="114300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11430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Detection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9204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4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 accuracy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450–520 ms · &lt; 2% false positive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377440"/>
            <a:ext cx="3566160" cy="164592"/>
          </a:xfrm>
          <a:prstGeom prst="roundRect">
            <a:avLst>
              <a:gd name="adj" fmla="val 27778"/>
            </a:avLst>
          </a:prstGeom>
          <a:solidFill>
            <a:srgbClr val="21293D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92040" y="2377440"/>
            <a:ext cx="3494837" cy="164592"/>
          </a:xfrm>
          <a:prstGeom prst="roundRect">
            <a:avLst>
              <a:gd name="adj" fmla="val 27778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1A1F2E"/>
          </a:solidFill>
          <a:ln w="12700">
            <a:solidFill>
              <a:srgbClr val="378ADD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3063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Activation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920" y="3429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8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ms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±1.5 cm threshold · from 0 to 1.5m height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297680"/>
            <a:ext cx="3566160" cy="164592"/>
          </a:xfrm>
          <a:prstGeom prst="roundRect">
            <a:avLst>
              <a:gd name="adj" fmla="val 27778"/>
            </a:avLst>
          </a:prstGeom>
          <a:solidFill>
            <a:srgbClr val="21293D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4297680"/>
            <a:ext cx="3209544" cy="164592"/>
          </a:xfrm>
          <a:prstGeom prst="roundRect">
            <a:avLst>
              <a:gd name="adj" fmla="val 27778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1A1F2E"/>
          </a:solidFill>
          <a:ln w="12700">
            <a:solidFill>
              <a:srgbClr val="BA7517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35240" y="306324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35240" y="3063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Shutoff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92040" y="3429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75 ms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9204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Full-level detection · overflow prevention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97680"/>
            <a:ext cx="3566160" cy="164592"/>
          </a:xfrm>
          <a:prstGeom prst="roundRect">
            <a:avLst>
              <a:gd name="adj" fmla="val 27778"/>
            </a:avLst>
          </a:prstGeom>
          <a:solidFill>
            <a:srgbClr val="21293D"/>
          </a:solidFill>
          <a:ln w="12700">
            <a:solidFill>
              <a:srgbClr val="212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92040" y="4297680"/>
            <a:ext cx="3316529" cy="164592"/>
          </a:xfrm>
          <a:prstGeom prst="roundRect">
            <a:avLst>
              <a:gd name="adj" fmla="val 27778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2471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24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jitter during calibration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" y="15361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duty cycle tuning required 200+ cycles to hit exact 90° without overshoot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2011680"/>
            <a:ext cx="3611880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20848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Multi-point PWM lookup table at 10° intervals with automated feedback loop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87552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12471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124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temperature drift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3752" y="15361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 readings shifted with ambient temperature, raising false positive risk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73752" y="2011680"/>
            <a:ext cx="3611880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3752" y="20848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Adaptive thresholding based on temp readings — 2% accuracy across 0–50°C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53512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reflective noise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" y="35021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Vibrations and reflections produced erratic distance readings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" y="3977640"/>
            <a:ext cx="3611880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" y="40507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20-sample moving average filter → 85% noise reduction, sub-500ms response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53512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30906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resets from relay switching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73752" y="35021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relay switching without flyback diodes caused voltage spikes on VCC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73752" y="3977640"/>
            <a:ext cx="3611880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3752" y="40507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1N4007 flyback diodes + 100 µF bulk caps on relay terminals and ESP32 power pins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 Materials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941392"/>
              </p:ext>
            </p:extLst>
          </p:nvPr>
        </p:nvGraphicFramePr>
        <p:xfrm>
          <a:off x="411480" y="987552"/>
          <a:ext cx="5486400" cy="3855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MCU, 240MHz, Wi-Fi+BT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Ultrasonic, 2–400cm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MQ-2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Gas: LPG, Smoke, 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SG90 Servo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180°, 5V PWM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Mini Pump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3–6V submersible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16×2 I²C LCD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+ 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5V + Red 5mm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Resistors/Pots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100Ω / 1kΩ trimmers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 + Vero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830pt + PCB stripboard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8D4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Solder, headers, wires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8B9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4B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3235</a:t>
                      </a:r>
                    </a:p>
                  </a:txBody>
                  <a:tcPr>
                    <a:lnL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987552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 w="12700">
            <a:solidFill>
              <a:srgbClr val="1D9E75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09360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9360" y="1508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₨ 3,235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309360" y="2194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~$11.50 USD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30632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1F2E"/>
          </a:solidFill>
          <a:ln w="12700">
            <a:solidFill>
              <a:srgbClr val="BA7517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09360" y="3182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309360" y="352044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ELECTROBES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Rawalpindi / Islamabad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Rates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39"/>
            <a:ext cx="3931920" cy="3933305"/>
          </a:xfrm>
          <a:prstGeom prst="roundRect">
            <a:avLst>
              <a:gd name="adj" fmla="val 2778"/>
            </a:avLst>
          </a:prstGeom>
          <a:solidFill>
            <a:srgbClr val="1A1F2E"/>
          </a:solidFill>
          <a:ln w="12700">
            <a:solidFill>
              <a:srgbClr val="2129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modules fully functional and tested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breadboard → simulation → PCB workflow demonstrated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968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3.3V architecture — compact and efficient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at ₨3,235 using commercial components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210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platform for real-world smart home deployment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005840"/>
            <a:ext cx="1920240" cy="1389888"/>
          </a:xfrm>
          <a:prstGeom prst="roundRect">
            <a:avLst>
              <a:gd name="adj" fmla="val 6579"/>
            </a:avLst>
          </a:prstGeom>
          <a:solidFill>
            <a:srgbClr val="21293D"/>
          </a:solidFill>
          <a:ln w="12700">
            <a:solidFill>
              <a:srgbClr val="378ADD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12080" y="1143000"/>
            <a:ext cx="530352" cy="530352"/>
          </a:xfrm>
          <a:prstGeom prst="ellipse">
            <a:avLst/>
          </a:prstGeom>
          <a:solidFill>
            <a:srgbClr val="378ADD">
              <a:alpha val="30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207008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617720" y="17556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logging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1772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 / Azure IoT Hub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75120" y="1005840"/>
            <a:ext cx="1920240" cy="1389888"/>
          </a:xfrm>
          <a:prstGeom prst="roundRect">
            <a:avLst>
              <a:gd name="adj" fmla="val 6579"/>
            </a:avLst>
          </a:prstGeom>
          <a:solidFill>
            <a:srgbClr val="21293D"/>
          </a:solidFill>
          <a:ln w="12700">
            <a:solidFill>
              <a:srgbClr val="1D9E75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60920" y="1143000"/>
            <a:ext cx="530352" cy="530352"/>
          </a:xfrm>
          <a:prstGeom prst="ellipse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207008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66560" y="17556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76656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 / Google Assistant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17136" y="2926080"/>
            <a:ext cx="1920240" cy="1389888"/>
          </a:xfrm>
          <a:prstGeom prst="roundRect">
            <a:avLst>
              <a:gd name="adj" fmla="val 6579"/>
            </a:avLst>
          </a:prstGeom>
          <a:solidFill>
            <a:srgbClr val="21293D"/>
          </a:solidFill>
          <a:ln w="12700">
            <a:solidFill>
              <a:srgbClr val="BA7517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202936" y="3063240"/>
            <a:ext cx="530352" cy="530352"/>
          </a:xfrm>
          <a:prstGeom prst="ellipse">
            <a:avLst/>
          </a:prstGeom>
          <a:solidFill>
            <a:srgbClr val="BA7517">
              <a:alpha val="30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3127248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08576" y="3675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integration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608576" y="4005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relays + EM locks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665976" y="2926080"/>
            <a:ext cx="1920240" cy="1389888"/>
          </a:xfrm>
          <a:prstGeom prst="roundRect">
            <a:avLst>
              <a:gd name="adj" fmla="val 6579"/>
            </a:avLst>
          </a:prstGeom>
          <a:solidFill>
            <a:srgbClr val="21293D"/>
          </a:solidFill>
          <a:ln w="12700">
            <a:solidFill>
              <a:srgbClr val="E24B4A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351776" y="3063240"/>
            <a:ext cx="530352" cy="530352"/>
          </a:xfrm>
          <a:prstGeom prst="ellipse">
            <a:avLst/>
          </a:prstGeom>
          <a:solidFill>
            <a:srgbClr val="E24B4A">
              <a:alpha val="30000"/>
            </a:srgbClr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3127248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57416" y="3675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757416" y="4005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— anomaly detection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1314</Words>
  <Application>Microsoft Office PowerPoint</Application>
  <PresentationFormat>On-screen Show (16:9)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Home Automation and Safety System</dc:title>
  <dc:subject>PptxGenJS Presentation</dc:subject>
  <dc:creator>Frais Asghar</dc:creator>
  <cp:lastModifiedBy>Frais Asghar</cp:lastModifiedBy>
  <cp:revision>5</cp:revision>
  <dcterms:created xsi:type="dcterms:W3CDTF">2026-06-13T05:55:59Z</dcterms:created>
  <dcterms:modified xsi:type="dcterms:W3CDTF">2026-06-13T13:16:28Z</dcterms:modified>
</cp:coreProperties>
</file>