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7B2FB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4B-45E2-81A4-043073A4C90A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4B-45E2-81A4-043073A4C90A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4B-45E2-81A4-043073A4C90A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4B-45E2-81A4-043073A4C90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Door Lock</c:v>
                </c:pt>
                <c:pt idx="1">
                  <c:v>Gas Alert</c:v>
                </c:pt>
                <c:pt idx="2">
                  <c:v>Pump ON</c:v>
                </c:pt>
                <c:pt idx="3">
                  <c:v>Pump OFF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485</c:v>
                </c:pt>
                <c:pt idx="2">
                  <c:v>85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C4B-45E2-81A4-043073A4C9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6350" cap="flat">
              <a:solidFill>
                <a:srgbClr val="2A344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66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46888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56616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66344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76072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85800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955280" y="228600"/>
            <a:ext cx="54864" cy="54864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303520" y="274320"/>
            <a:ext cx="3474720" cy="4663440"/>
          </a:xfrm>
          <a:prstGeom prst="roundRect">
            <a:avLst>
              <a:gd name="adj" fmla="val 3947"/>
            </a:avLst>
          </a:prstGeom>
          <a:solidFill>
            <a:srgbClr val="1C2430">
              <a:alpha val="80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640080"/>
            <a:ext cx="2560320" cy="2560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394960" y="338328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394960" y="340156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94960" y="376732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Modules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537960" y="338328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37960" y="340156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96"/>
                </a:solidFill>
              </a:rPr>
              <a:t>±2cm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537960" y="376732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Accuracy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680960" y="338328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680960" y="340156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98%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680960" y="376732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Detection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443484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760720" y="4434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PROTEUS PROFESSIONAL SIMULATION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500" dirty="0">
                <a:solidFill>
                  <a:srgbClr val="00B4D8"/>
                </a:solidFill>
              </a:rPr>
              <a:t>PHASE 2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57200" y="8686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Proteus Software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Simulation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457200" y="2331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E6F0"/>
                </a:solidFill>
              </a:rPr>
              <a:t>IoT-Based Smart Home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E6F0"/>
                </a:solidFill>
              </a:rPr>
              <a:t>Automation and Safety System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57200" y="3154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100" dirty="0">
                <a:solidFill>
                  <a:srgbClr val="8B949E"/>
                </a:solidFill>
              </a:rPr>
              <a:t>Digital twin validation of hardware design, testing all three modules simultaneously in Proteus Professional environment before permanent PCB implementation.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4206240"/>
            <a:ext cx="2286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Proteus Simulation?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Validating hardware logic before permanent soldering — the smart way to engineer.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00C89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8988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61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Elimination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Catch voltage spikes, ground loops, and logic errors before any physical component is soldered.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395728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F4A261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88336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560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Critical Issue Found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88720" y="2852928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Discovered that direct relay switching without flyback diodes caused ESP32 reset events — fixed in final PCB design.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3694176"/>
            <a:ext cx="4572000" cy="11430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1524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86784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858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Virtual Oscilloscope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188720" y="4151376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Enabled precise PWM timing analysis to reduce servo jitter and optimize frequency — impossible on breadboard alone.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303520" y="1051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B4D8"/>
                </a:solidFill>
              </a:rPr>
              <a:t>SIMULATION WORKFLOW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349240" y="1417320"/>
            <a:ext cx="384048" cy="38404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53492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852160" y="1380744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Breadboard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Validated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541264" y="1801368"/>
            <a:ext cx="0" cy="310896"/>
          </a:xfrm>
          <a:prstGeom prst="line">
            <a:avLst/>
          </a:prstGeom>
          <a:noFill/>
          <a:ln w="19050">
            <a:solidFill>
              <a:srgbClr val="00C8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349240" y="2112264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5349240" y="21122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852160" y="207568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Replicated in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Proteus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541264" y="2496312"/>
            <a:ext cx="0" cy="310896"/>
          </a:xfrm>
          <a:prstGeom prst="line">
            <a:avLst/>
          </a:prstGeom>
          <a:noFill/>
          <a:ln w="1905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349240" y="2807208"/>
            <a:ext cx="384048" cy="38404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5349240" y="2807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852160" y="277063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Logic Flow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Verified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5541264" y="3191256"/>
            <a:ext cx="0" cy="310896"/>
          </a:xfrm>
          <a:prstGeom prst="line">
            <a:avLst/>
          </a:prstGeom>
          <a:noFill/>
          <a:ln w="1905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5349240" y="3502152"/>
            <a:ext cx="384048" cy="38404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5349240" y="3502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5852160" y="346557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Issues Found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&amp; Fixed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541264" y="3886200"/>
            <a:ext cx="0" cy="310896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5349240" y="4197096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5349240" y="41970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852160" y="416052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PCB Design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0E6F0"/>
                </a:solidFill>
              </a:rPr>
              <a:t>Finalised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Proteus Circuit Schematic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Complete digital twin — all three modules wired and simulated simultaneously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691639"/>
            <a:ext cx="1920240" cy="2125287"/>
          </a:xfrm>
          <a:prstGeom prst="roundRect">
            <a:avLst>
              <a:gd name="adj" fmla="val 4762"/>
            </a:avLst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11680" y="2103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ARDUINO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UNO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2560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(ESP32 Logic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Simulated)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" y="960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2C39A"/>
                </a:solidFill>
              </a:rPr>
              <a:t>HC-SR04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2C39A"/>
                </a:solidFill>
              </a:rPr>
              <a:t>Ultrasonic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2540" y="1900842"/>
            <a:ext cx="1298172" cy="3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214884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2880" y="2194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4A261"/>
                </a:solidFill>
              </a:rPr>
              <a:t>MQ Gas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4A261"/>
                </a:solidFill>
              </a:rPr>
              <a:t>Sensor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280160" y="2514600"/>
            <a:ext cx="73152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338328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7B2F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2880" y="3429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2FBE"/>
                </a:solidFill>
              </a:rPr>
              <a:t>SG90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7B2FBE"/>
                </a:solidFill>
              </a:rPr>
              <a:t>Servo Motor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80160" y="3602182"/>
            <a:ext cx="730552" cy="0"/>
          </a:xfrm>
          <a:prstGeom prst="line">
            <a:avLst/>
          </a:prstGeom>
          <a:noFill/>
          <a:ln w="12700">
            <a:solidFill>
              <a:srgbClr val="7B2FB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0" y="91440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0" y="96012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0C896"/>
                </a:solidFill>
              </a:rPr>
              <a:t>DC Motor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00C896"/>
                </a:solidFill>
              </a:rPr>
              <a:t>(Pump)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1949334"/>
            <a:ext cx="743989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0" y="219456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0" y="22402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63946"/>
                </a:solidFill>
              </a:rPr>
              <a:t>LED +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E63946"/>
                </a:solidFill>
              </a:rPr>
              <a:t>Buzzer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2514600"/>
            <a:ext cx="182880" cy="0"/>
          </a:xfrm>
          <a:prstGeom prst="line">
            <a:avLst/>
          </a:prstGeom>
          <a:noFill/>
          <a:ln w="1270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0" y="3383280"/>
            <a:ext cx="1097280" cy="640080"/>
          </a:xfrm>
          <a:prstGeom prst="roundRect">
            <a:avLst>
              <a:gd name="adj" fmla="val 10000"/>
            </a:avLst>
          </a:prstGeom>
          <a:solidFill>
            <a:srgbClr val="1C2430"/>
          </a:solidFill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0" y="34290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B703"/>
                </a:solidFill>
              </a:rPr>
              <a:t>Push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FFB703"/>
                </a:solidFill>
              </a:rPr>
              <a:t>Button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31920" y="3602182"/>
            <a:ext cx="210312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029968" y="2909108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12 (Trig)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11 (Echo)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A1 (Gas)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8 (Motor)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6 (Servo)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7 (Button)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2 (Buzzer)</a:t>
            </a:r>
            <a:endParaRPr lang="en-US" sz="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600" dirty="0">
                <a:solidFill>
                  <a:srgbClr val="8B949E"/>
                </a:solidFill>
              </a:rPr>
              <a:t>Pin 13 (LED)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5486400" y="914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00B4D8"/>
                </a:solidFill>
              </a:rPr>
              <a:t>PIN MAPPING</a:t>
            </a:r>
            <a:endParaRPr lang="en-US" sz="1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69865"/>
              </p:ext>
            </p:extLst>
          </p:nvPr>
        </p:nvGraphicFramePr>
        <p:xfrm>
          <a:off x="5440680" y="1234440"/>
          <a:ext cx="3291840" cy="296265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(Trig)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(Echo)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LPG / CO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 simulation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Servo (Door)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/ Unlock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door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alert visual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Buzzer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E0E6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alert audio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C24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5440680" y="42976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1A2F1A"/>
          </a:solidFill>
          <a:ln w="1524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38912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43600" y="4315968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0C896"/>
                </a:solidFill>
              </a:rPr>
              <a:t>All components unified on 3.3V power rail with common ground — compact, stable circuit design.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4E1D97E4-6668-73DA-76A1-1439D3DCD7BF}"/>
              </a:ext>
            </a:extLst>
          </p:cNvPr>
          <p:cNvSpPr/>
          <p:nvPr/>
        </p:nvSpPr>
        <p:spPr>
          <a:xfrm rot="5400000">
            <a:off x="4469199" y="1760220"/>
            <a:ext cx="411480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BE060986-F106-AF52-3A7E-D8AE37211EA6}"/>
              </a:ext>
            </a:extLst>
          </p:cNvPr>
          <p:cNvSpPr/>
          <p:nvPr/>
        </p:nvSpPr>
        <p:spPr>
          <a:xfrm rot="5400000">
            <a:off x="563602" y="1751909"/>
            <a:ext cx="297873" cy="0"/>
          </a:xfrm>
          <a:prstGeom prst="line">
            <a:avLst/>
          </a:prstGeom>
          <a:noFill/>
          <a:ln w="12700">
            <a:solidFill>
              <a:srgbClr val="00C896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Simulation Validation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All three modules tested simultaneously — functional, stress, and edge-case scenarios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1B22"/>
          </a:solidFill>
          <a:ln w="19050">
            <a:solidFill>
              <a:srgbClr val="7B2FBE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70432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57400" y="117043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57400" y="11704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</a:rPr>
              <a:t>PASSED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60120" y="1161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BE"/>
                </a:solidFill>
              </a:rPr>
              <a:t>Smart Door Lock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6642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90 deg servo rotation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&lt; 95ms lock/unlock cycle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No overshoot or jitter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0515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1B22"/>
          </a:solidFill>
          <a:ln w="19050">
            <a:solidFill>
              <a:srgbClr val="E63946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170432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892040" y="117043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92040" y="11704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</a:rPr>
              <a:t>PASSED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794760" y="1161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</a:rPr>
              <a:t>Gas Leak Detection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37560" y="16642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450-520ms alert response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33756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Buzzer + LED + Wi-Fi alert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33756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&lt; 2% false positive rate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035040" y="10515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1B22"/>
          </a:solidFill>
          <a:ln w="19050">
            <a:solidFill>
              <a:srgbClr val="02C39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1170432"/>
            <a:ext cx="411480" cy="411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726680" y="117043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726680" y="11704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117"/>
                </a:solidFill>
              </a:rPr>
              <a:t>PASSED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6629400" y="1161288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Water Level Control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172200" y="16642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±2 cm threshold accuracy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72200" y="2057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Pump ON &gt; 10cm distance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17220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</a:t>
            </a:r>
            <a:r>
              <a:rPr lang="en-US" sz="1100" dirty="0">
                <a:solidFill>
                  <a:srgbClr val="E0E6F0"/>
                </a:solidFill>
              </a:rPr>
              <a:t>&lt; 75ms pump response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365760" y="3364992"/>
            <a:ext cx="5120640" cy="1463040"/>
          </a:xfrm>
          <a:prstGeom prst="roundRect">
            <a:avLst>
              <a:gd name="adj" fmla="val 6250"/>
            </a:avLst>
          </a:prstGeom>
          <a:solidFill>
            <a:srgbClr val="0A0E13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457200" y="3401568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B4D8"/>
                </a:solidFill>
              </a:rPr>
              <a:t>VIRTUAL TERMINAL — SERIAL MONITOR OUTPUT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3639312"/>
            <a:ext cx="4919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SMART HOME AUTOMATION SYSTEM        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Gas Threshold: 400 | Distance Threshold: 10 cm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Pump ON when distance &gt; 10 cm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80 cm | Gas: 216 | LED: OFF | Buzzer: OFF | Pump: ON | Door: UNLOCKED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78 cm | Gas: 216 | LED: OFF | Buzzer: OFF | Pump: ON | Door: UNLOCKED</a:t>
            </a:r>
            <a:endParaRPr lang="en-US" sz="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7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Distance: 10 cm | Gas: 216 | LED: OFF | Buzzer: OFF | Pump: OFF | Door: UNLOCKED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5623560" y="3337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8B949E"/>
                </a:solidFill>
              </a:rPr>
              <a:t>RESPONSE TIME (ms)</a:t>
            </a:r>
            <a:endParaRPr lang="en-US" sz="100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5486400" y="3566160"/>
          <a:ext cx="338328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4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Findings &amp; Simulation Impact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What Proteus revealed — and how each issue was resolved before PCB manufacturing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2A121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529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1556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Direct relay switching caused voltage spikes that reset the ESP32 intermittently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07992" y="1426464"/>
            <a:ext cx="320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6"/>
          <p:cNvSpPr/>
          <p:nvPr/>
        </p:nvSpPr>
        <p:spPr>
          <a:xfrm>
            <a:off x="4846320" y="102412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0D1F18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25296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1556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Added 1N4007 flyback diodes across relay coils and 100µF bulk capacitors near power pins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0040" y="198424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2A121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8541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207568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Servo produced audible noise and showed timing jitter during PWM generation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507992" y="2386584"/>
            <a:ext cx="320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" name="Shape 11"/>
          <p:cNvSpPr/>
          <p:nvPr/>
        </p:nvSpPr>
        <p:spPr>
          <a:xfrm>
            <a:off x="4846320" y="198424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0D1F18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1854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207568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Oscilloscope analysis revealed optimal PWM frequency; servo response latency minimised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320040" y="294436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2A121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45536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2960" y="30358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Ground loops identified between analog sensor paths and digital relay control paths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07992" y="3346704"/>
            <a:ext cx="320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" name="Shape 16"/>
          <p:cNvSpPr/>
          <p:nvPr/>
        </p:nvSpPr>
        <p:spPr>
          <a:xfrm>
            <a:off x="4846320" y="294436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0D1F18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45536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49240" y="303580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Separated analog and digital ground planes at ESP32 reference — zero crosstalk in final PCB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320040" y="390448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2A1218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05656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2960" y="399592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Buzzer timing offset detected — triggered 80ms after threshold crossed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507992" y="4306824"/>
            <a:ext cx="320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0" name="Shape 21"/>
          <p:cNvSpPr/>
          <p:nvPr/>
        </p:nvSpPr>
        <p:spPr>
          <a:xfrm>
            <a:off x="4846320" y="3904488"/>
            <a:ext cx="3977640" cy="804672"/>
          </a:xfrm>
          <a:prstGeom prst="roundRect">
            <a:avLst>
              <a:gd name="adj" fmla="val 9091"/>
            </a:avLst>
          </a:prstGeom>
          <a:solidFill>
            <a:srgbClr val="0D1F18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4105656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49240" y="3995928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0E6F0"/>
                </a:solidFill>
              </a:rPr>
              <a:t>Logic flow corrected; all three modules now trigger simultaneously within specified windows</a:t>
            </a:r>
            <a:endParaRPr lang="en-US" sz="1050" dirty="0"/>
          </a:p>
        </p:txBody>
      </p:sp>
      <p:sp>
        <p:nvSpPr>
          <p:cNvPr id="33" name="Text 23"/>
          <p:cNvSpPr/>
          <p:nvPr/>
        </p:nvSpPr>
        <p:spPr>
          <a:xfrm>
            <a:off x="320040" y="857250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E63946"/>
                </a:solidFill>
              </a:rPr>
              <a:t>ISSUE FOUND IN SIMULATION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4846320" y="857250"/>
            <a:ext cx="3977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00C896"/>
                </a:solidFill>
              </a:rPr>
              <a:t>SOLUTION APPLIED TO PCB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610</Words>
  <Application>Microsoft Office PowerPoint</Application>
  <PresentationFormat>On-screen Show (16:9)</PresentationFormat>
  <Paragraphs>136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Proteus Simulation - Smart Home Automation</dc:title>
  <dc:subject>PptxGenJS Presentation</dc:subject>
  <dc:creator>PptxGenJS</dc:creator>
  <cp:lastModifiedBy>Frais Asghar</cp:lastModifiedBy>
  <cp:revision>4</cp:revision>
  <dcterms:created xsi:type="dcterms:W3CDTF">2026-06-13T07:07:55Z</dcterms:created>
  <dcterms:modified xsi:type="dcterms:W3CDTF">2026-06-13T13:11:15Z</dcterms:modified>
</cp:coreProperties>
</file>